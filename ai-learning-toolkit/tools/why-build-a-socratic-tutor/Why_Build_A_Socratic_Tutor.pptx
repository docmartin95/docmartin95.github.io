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D/F rate</c:v>
                  </c:pt>
                  <c:pt idx="1">
                    <c:v>A grades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17.4</c:v>
                </c:pt>
                <c:pt idx="1">
                  <c:v>17.4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Tutor users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D/F rate</c:v>
                  </c:pt>
                  <c:pt idx="1">
                    <c:v>A grades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5.7</c:v>
                </c:pt>
                <c:pt idx="1">
                  <c:v>34.3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A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A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a case for faculty. Not a tools demo. The argument is that the design of the tool decides whether AI helps or hurts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whole talk: adoption is settled, design is the lever.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Offloading is not the enemy. Outsourcing the thinking is. The tool is neutral; the use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moment the AI is gone is exactly boards and the patient. That is the moment we are training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invisible in the moment. The student feels fine. That is what makes them dangerous.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winning strategies all share one feature: the student has to produce, not receive.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turn: the same evidence that indicts answer-machine use endorses Socratic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Within-cohort. The point is not a higher average. It is that the tail shrank and the top grew.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earns the architecture. If how matters, then design that enforces the right how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domain-independent. Change the subject; the machinery stays.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governing principle. Everything else in the architecture serves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on-ramp lowers the barrier. Nobody has to start from a blank system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purpose, not tools. The mission is the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3840480" cy="3840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377440" cy="2377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MEDICAL EDUCATION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8961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Build a Socratic AI Tutor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F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case, the evidence, and the architecture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Martin II, PhD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37160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not whether students use AI.
</a:t>
            </a:r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how.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already reach for AI to study. The interesting question is no longer adoption. It is what the tool does to their thinking, and that is a design decision we can make on purpose.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Cognitive offloading cuts both 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3291840"/>
          </a:xfrm>
          <a:prstGeom prst="roundRect">
            <a:avLst>
              <a:gd name="adj" fmla="val 2500"/>
            </a:avLst>
          </a:prstGeom>
          <a:solidFill>
            <a:srgbClr val="EEF3F4"/>
          </a:solidFill>
          <a:ln/>
          <a:effectLst>
            <a:outerShdw sx="100000" sy="100000" kx="0" ky="0" algn="bl" rotWithShape="0" blurRad="101600" dist="38100" dir="5400000">
              <a:srgbClr val="9AA9AD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 the busywork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Formatting, reorganizing, drafting tables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working memory for real thinking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still happens in your head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257800" cy="3291840"/>
          </a:xfrm>
          <a:prstGeom prst="roundRect">
            <a:avLst>
              <a:gd name="adj" fmla="val 2500"/>
            </a:avLst>
          </a:prstGeom>
          <a:solidFill>
            <a:srgbClr val="F6ECE0"/>
          </a:solidFill>
          <a:ln/>
          <a:effectLst>
            <a:outerShdw sx="100000" sy="100000" kx="0" ky="0" algn="bl" rotWithShape="0" blurRad="101600" dist="38100" dir="5400000">
              <a:srgbClr val="9AA9AD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5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Outsource the thinking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“Just give me the answer”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does the reasoning you needed to do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never lands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tool. The difference is what you hand it.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performance paradox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023360" cy="3291840"/>
          </a:xfrm>
          <a:prstGeom prst="roundRect">
            <a:avLst>
              <a:gd name="adj" fmla="val 2500"/>
            </a:avLst>
          </a:prstGeom>
          <a:solidFill>
            <a:srgbClr val="16454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~1,000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randomized trial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Bastani et al., 2024 (PNAS)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228600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7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using AI did better during practice, then worse than the no-AI group once the AI was taken away.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7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that gave hints instead of answers reduced the effect.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E7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Lodge and Loble (2026) describe the same pattern: lean on AI, underperform the moment it is gone.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QUIETER FAILURES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costs you do not see happening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96596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Metacognitive laziness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91640" y="24688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Leaning on AI quietly weakens your ability to notice what you do and do not understand (Fan et al., 2025).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7033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03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91640" y="36576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illusion of understanding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691640" y="41605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Sounding fluent is not the same as knowing, and not the same as being able to produce it yourself.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evidence points one direction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3200400"/>
          </a:xfrm>
          <a:prstGeom prst="roundRect">
            <a:avLst>
              <a:gd name="adj" fmla="val 2571"/>
            </a:avLst>
          </a:prstGeom>
          <a:solidFill>
            <a:srgbClr val="EEF3F4"/>
          </a:solidFill>
          <a:ln/>
          <a:effectLst>
            <a:outerShdw sx="100000" sy="100000" kx="0" ky="0" algn="bl" rotWithShape="0" blurRad="101600" dist="38100" dir="5400000">
              <a:srgbClr val="9AA9AD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Highest-utility strategies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practice (testing yourself)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practice (spacing)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ten common techniques, these two rank highest (Dunlosky et al., 2013).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63640" y="2057400"/>
            <a:ext cx="5257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testing effect: retrieving memory strengthens it, it does not just measure it (Roediger and Karpicke, 2006).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medical education, repeated testing beat repeated study at six months (Larsen et al., 2009).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Self-directed retrieval practice predicted higher Step 1 scores (Deng et al., 2015).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1430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Socratic tutor operationalizes the “how”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16454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3200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Withhold the answer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3977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the student produce first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0" y="292608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16454F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3200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retrieval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17720" y="3977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 is a testing event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38160" y="292608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16454F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3200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metacognition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366760" y="3977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surfaces what the student cannot yet 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Socratic chatbot outperformed a standard chatbot on reflection and critical thinking (Favero et al., 2024).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Professor Dobbi pilot: the distribution moved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0350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040880" y="20116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−67%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7040880" y="2880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D/F rate (17.4% → 5.7%)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040880" y="37490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7040880" y="4617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grades roughly doubled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2025, MBS Biochemistry, N = 58, voluntary use, no training provided.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DATA HONESTLY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signal is the distribution, and the how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3200400"/>
          </a:xfrm>
          <a:prstGeom prst="roundRect">
            <a:avLst>
              <a:gd name="adj" fmla="val 2571"/>
            </a:avLst>
          </a:prstGeom>
          <a:solidFill>
            <a:srgbClr val="EEF3F4"/>
          </a:solidFill>
          <a:ln/>
          <a:effectLst>
            <a:outerShdw sx="100000" sy="100000" kx="0" ky="0" algn="bl" rotWithShape="0" blurRad="101600" dist="38100" dir="5400000">
              <a:srgbClr val="9AA9AD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average hides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difference was not significant (p = 0.32)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 compressed (SD 13.0 → 10.0)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was U-shaped: at-risk 87%, strong 71%, middle 38%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257800" cy="3200400"/>
          </a:xfrm>
          <a:prstGeom prst="roundRect">
            <a:avLst>
              <a:gd name="adj" fmla="val 2571"/>
            </a:avLst>
          </a:prstGeom>
          <a:solidFill>
            <a:srgbClr val="F6ECE0"/>
          </a:solidFill>
          <a:ln/>
          <a:effectLst>
            <a:outerShdw sx="100000" sy="100000" kx="0" ky="0" algn="bl" rotWithShape="0" blurRad="101600" dist="38100" dir="5400000">
              <a:srgbClr val="9AA9AD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How, not whether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7432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students gained about +4.8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used it as an answer machine lost about 4.9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use did not save the answer-machine group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did not decide the outcome. The habit did.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Architecture, not vibes: four things separate a tutor from a chatbot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EEF3F4"/>
          </a:solidFill>
          <a:ln/>
          <a:effectLst>
            <a:outerShdw sx="100000" sy="100000" kx="0" ky="0" algn="bl" rotWithShape="0" blurRad="101600" dist="38100" dir="5400000">
              <a:srgbClr val="9AA9AD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ledger of what is unresolved, so it teaches across turns instead of answering one-off questions.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EEF3F4"/>
          </a:solidFill>
          <a:ln/>
          <a:effectLst>
            <a:outerShdw sx="100000" sy="100000" kx="0" ky="0" algn="bl" rotWithShape="0" blurRad="101600" dist="38100" dir="5400000">
              <a:srgbClr val="9AA9AD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gate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27432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classifies every answer. It never praises a wrong one, and never hands the answer on a first miss.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EEF3F4"/>
          </a:solidFill>
          <a:ln/>
          <a:effectLst>
            <a:outerShdw sx="100000" sy="100000" kx="0" ky="0" algn="bl" rotWithShape="0" blurRad="101600" dist="38100" dir="5400000">
              <a:srgbClr val="9AA9AD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251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42702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personas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48920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Warmth to keep the student engaged, and a sharp challenger so comfort never becomes complacency.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EEF3F4"/>
          </a:solidFill>
          <a:ln/>
          <a:effectLst>
            <a:outerShdw sx="100000" sy="100000" kx="0" ky="0" algn="bl" rotWithShape="0" blurRad="101600" dist="38100" dir="5400000">
              <a:srgbClr val="9AA9AD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251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42702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practice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37960" y="48920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builds the skill on adjacent problems without ever spoiling the graded case.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RULE THAT MAKES IT SOCRATIC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37160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praise a wrong answer.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hand over the answer on a first miss.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7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receives warmth in place of a correction has been made less safe, not more, because they carry the error into a patient encounter.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safety comes from accurate feedback, not from the absence of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ON-RAMP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already teach the first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EEF3F4"/>
          </a:solidFill>
          <a:ln/>
          <a:effectLst>
            <a:outerShdw sx="100000" sy="100000" kx="0" ky="0" algn="bl" rotWithShape="0" blurRad="101600" dist="38100" dir="5400000">
              <a:srgbClr val="9AA9AD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51760" y="213055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TRACI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651760" y="25877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Task, Role, Audience, Create, Intent. Faculty already know how to structure a prompt.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EEF3F4"/>
          </a:solidFill>
          <a:ln/>
          <a:effectLst>
            <a:outerShdw sx="100000" sy="100000" kx="0" ky="0" algn="bl" rotWithShape="0" blurRad="101600" dist="38100" dir="5400000">
              <a:srgbClr val="9AA9AD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566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1760" y="35478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four principles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651760" y="400507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the evaluation gate, two personas, protected practice. That is the jump from prompt to tutor.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EEF3F4"/>
          </a:solidFill>
          <a:ln/>
          <a:effectLst>
            <a:outerShdw sx="100000" sy="100000" kx="0" ky="0" algn="bl" rotWithShape="0" blurRad="101600" dist="38100" dir="5400000">
              <a:srgbClr val="9AA9AD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983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49651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anywhere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651760" y="54223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Gemini Gem, a Claude Project, a custom GPT, or NotebookLM. The method is platform-agnostic.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16454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do not need a faster way to get answers. They need a partner that makes them think.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method, it builds people up and earns citations. Keep your fully built architecture as yours to deploy.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Martin II, PhD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2026-08-07T19:18:34Z</dcterms:created>
  <dcterms:modified xsi:type="dcterms:W3CDTF">2026-08-07T19:18:34Z</dcterms:modified>
</cp:coreProperties>
</file>